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3" d="100"/>
          <a:sy n="173" d="100"/>
        </p:scale>
        <p:origin x="2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133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30AC1-5E17-20EF-917D-EA78CDE88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96B95-48B6-5845-5CC5-10FA7E83D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F30AE-539E-E3F4-5BB5-F6C969EC2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80CB1-EFD4-1D16-F560-C9132FFA55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63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474504"/>
            <a:ext cx="7924801" cy="1097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2D1F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Hotel Recommendations That Learn From Your Browsing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2660042" y="2724150"/>
            <a:ext cx="3823830" cy="365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dirty="0">
                <a:solidFill>
                  <a:srgbClr val="2D1F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Session Context Window Approach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303431" y="3394642"/>
            <a:ext cx="4537139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2D1F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Marios Ntinoulis • MSc Data Science • University of Nicosia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65772"/>
            <a:ext cx="7924801" cy="1158138"/>
          </a:xfrm>
          <a:prstGeom prst="roundRect">
            <a:avLst>
              <a:gd name="adj" fmla="val 94745"/>
            </a:avLst>
          </a:prstGeom>
          <a:solidFill>
            <a:srgbClr val="FEF5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7" cy="41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249646"/>
            <a:ext cx="7620001" cy="1268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browsing hotels on Expedia. You check 5 luxury beachfront properties in Greece.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systems only remember: "He just looked at hotel #5"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miss the pattern: You're clearly looking for luxury beachfront hotels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670572"/>
            <a:ext cx="7461505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Question: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944841"/>
            <a:ext cx="7461505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we do better by looking at your entire recent browsing session, not just the last click?</a:t>
            </a:r>
            <a:endParaRPr lang="en-US" sz="135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E10CE9E7-2D93-A64F-43F5-527B30B66C48}"/>
              </a:ext>
            </a:extLst>
          </p:cNvPr>
          <p:cNvSpPr/>
          <p:nvPr/>
        </p:nvSpPr>
        <p:spPr>
          <a:xfrm>
            <a:off x="609600" y="3676310"/>
            <a:ext cx="7924801" cy="1158138"/>
          </a:xfrm>
          <a:prstGeom prst="roundRect">
            <a:avLst>
              <a:gd name="adj" fmla="val 94745"/>
            </a:avLst>
          </a:prstGeom>
          <a:solidFill>
            <a:srgbClr val="FEF5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B4D2F5D-655C-73BC-CAF9-7578FC083D01}"/>
              </a:ext>
            </a:extLst>
          </p:cNvPr>
          <p:cNvSpPr/>
          <p:nvPr/>
        </p:nvSpPr>
        <p:spPr>
          <a:xfrm>
            <a:off x="914400" y="3981110"/>
            <a:ext cx="7461505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Hypothesis:</a:t>
            </a:r>
            <a:endParaRPr lang="en-US" sz="13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4805F74-60B7-0C4A-CE5F-1FD2C0FC8AAE}"/>
              </a:ext>
            </a:extLst>
          </p:cNvPr>
          <p:cNvSpPr/>
          <p:nvPr/>
        </p:nvSpPr>
        <p:spPr>
          <a:xfrm>
            <a:off x="914400" y="4255379"/>
            <a:ext cx="7461505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session context—the last 2-3 hotels—captures user intent better than a single click alone.</a:t>
            </a:r>
          </a:p>
          <a:p>
            <a:pPr marL="0" indent="0">
              <a:lnSpc>
                <a:spcPts val="2160"/>
              </a:lnSpc>
              <a:buNone/>
            </a:pPr>
            <a:endParaRPr lang="en-US" sz="1350" dirty="0">
              <a:solidFill>
                <a:srgbClr val="6B4423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7" cy="41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46"/>
            <a:ext cx="3886200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The Data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38215"/>
            <a:ext cx="3505200" cy="143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Expedia hotel data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100,000 browsing sessions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Split: 80K training / 20K testing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67,000 unique hotels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24400" y="1249646"/>
            <a:ext cx="3886200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My Setup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0" y="1638215"/>
            <a:ext cx="3505200" cy="143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Word2Vec embeddings (skip-gram)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 dimensions: 16, 32, 64, 100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 sizes: 1-5 hotels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Evaluated at K=10 and K=100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249647"/>
          <a:ext cx="7924800" cy="1741716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1F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1F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Hit Rate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1F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Improvement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W2V-Last (baseline)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12.14%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✨ W2V-Context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14.22%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+2.08% 🎉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Markov (traditional)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6.42%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-5.72%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7" cy="41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The Results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3296162"/>
            <a:ext cx="80832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That's 17% better than the baseline.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249645"/>
          <a:ext cx="7924800" cy="2177145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1F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Dimension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1F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Baseline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1F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With Context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1F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11.64%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13.68%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+2.04%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 ⭐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12.14%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14.22%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+2.08%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11.77%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13.91%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+2.14%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11.61%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13.65%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+2.04%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7" cy="41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the Sweet Spot: Embedding Dimension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3426789"/>
            <a:ext cx="8083297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Dimension-32 is the goldilocks zone: expressive enough without overfitting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661092"/>
          <a:ext cx="7924800" cy="2177145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1F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Window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1F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Top-10 Results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1F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Top-100 Results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w=1 (baseline)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3.22%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12.14%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w=2 ⭐ (tight)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4.56%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14.06%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w=3 ⭐ (loose)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4.51%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14.22%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w=5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4.43%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14.06%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7924801" cy="82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 Size: Different Strokes for Different Tasks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3838233"/>
            <a:ext cx="8083297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Insight: Tight rankings need recent signal (w=2). Loose rankings benefit from broader context (w=3).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45"/>
            <a:ext cx="7924801" cy="1051492"/>
          </a:xfrm>
          <a:prstGeom prst="roundRect">
            <a:avLst>
              <a:gd name="adj" fmla="val 104355"/>
            </a:avLst>
          </a:prstGeom>
          <a:solidFill>
            <a:srgbClr val="FEF5EB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29736"/>
            <a:ext cx="7924801" cy="1051492"/>
          </a:xfrm>
          <a:prstGeom prst="roundRect">
            <a:avLst>
              <a:gd name="adj" fmla="val 104355"/>
            </a:avLst>
          </a:prstGeom>
          <a:solidFill>
            <a:srgbClr val="FEF5EB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09830"/>
            <a:ext cx="7924801" cy="1051492"/>
          </a:xfrm>
          <a:prstGeom prst="roundRect">
            <a:avLst>
              <a:gd name="adj" fmla="val 104355"/>
            </a:avLst>
          </a:prstGeom>
          <a:solidFill>
            <a:srgbClr val="FEF5EB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7" cy="41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Works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45"/>
            <a:ext cx="7616953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1️⃣ Reduces Noise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200" y="1828714"/>
            <a:ext cx="7616953" cy="243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clicks get smoothed out. The true pattern emerges.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758336"/>
            <a:ext cx="7616953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2️⃣ Captures Real Intent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38200" y="3108808"/>
            <a:ext cx="7616953" cy="243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similar hotels averaged = closer to what you actually want.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4038430"/>
            <a:ext cx="7616953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3️⃣ Production Ready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8200" y="4388897"/>
            <a:ext cx="7616953" cy="243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 averaging—less than 3% computational overhead. Deploy today.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383639"/>
              </p:ext>
            </p:extLst>
          </p:nvPr>
        </p:nvGraphicFramePr>
        <p:xfrm>
          <a:off x="609600" y="1249649"/>
          <a:ext cx="7924800" cy="2198916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1F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1F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Top-10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1F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Top-100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Popularity (just recommend bestsellers)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1.85%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Markov (traditional ML)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4.72%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6.42%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W2V-Last (simple embedding)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3.22%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4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12.14%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✨ W2V-Context 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4.56%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67D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14.22%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7" cy="41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 Compare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3731591"/>
            <a:ext cx="8083297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2.2× better than Markov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9600" y="4005858"/>
            <a:ext cx="8083297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7.7× better than popularity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7" cy="41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Optimal Configuration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49"/>
            <a:ext cx="7620001" cy="1965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76"/>
              </a:lnSpc>
              <a:buSzPct val="100000"/>
              <a:buChar char="•"/>
            </a:pPr>
            <a:r>
              <a:rPr lang="en-US" sz="1320" b="1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Dimension-32 is optimal:</a:t>
            </a:r>
            <a:r>
              <a:rPr lang="en-US" sz="132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It captures enough information without overfitting to 80K training sessions. (I tested 16, 32, 64, and 100 dimensions.)</a:t>
            </a:r>
            <a:br>
              <a:rPr lang="en-US" sz="132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1320" b="1" dirty="0" err="1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Contect</a:t>
            </a:r>
            <a:r>
              <a:rPr lang="en-US" sz="1320" b="1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window size : </a:t>
            </a:r>
            <a:r>
              <a:rPr lang="en-US" sz="132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tested 1, 2,3 and 5 hotels for the average. 1 was baseline 3 was perfect while 5+ added too much noise.</a:t>
            </a:r>
            <a:endParaRPr lang="en-US" sz="1320" b="1" dirty="0"/>
          </a:p>
          <a:p>
            <a:pPr marL="342900" indent="-342900">
              <a:lnSpc>
                <a:spcPts val="2376"/>
              </a:lnSpc>
              <a:buSzPct val="100000"/>
              <a:buChar char="•"/>
            </a:pPr>
            <a:r>
              <a:rPr lang="en-US" sz="1320" b="1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 size is task-dependent:</a:t>
            </a:r>
            <a:r>
              <a:rPr lang="en-US" sz="132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Tight rankings (top-10) prefer recent history. Loose rankings (top-100) benefit from broader context.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7" cy="41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Honest Limitations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45"/>
            <a:ext cx="3886200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Limitations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60807" y="1676312"/>
            <a:ext cx="8532089" cy="1943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hotels weighted equally (recent should matter more)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window size (could vary per user)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focused on click sequences, intentionally excluding location, user profile, and temporal context.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predict next-click (14%). Industry predicts final booking (75%)—different problems.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endParaRPr lang="en-US" sz="1140" dirty="0">
              <a:solidFill>
                <a:srgbClr val="6B4423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3921C-1941-4ACA-1758-0A633321D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D90906-E347-82E9-BF90-3C7B5EBABBC0}"/>
              </a:ext>
            </a:extLst>
          </p:cNvPr>
          <p:cNvSpPr/>
          <p:nvPr/>
        </p:nvSpPr>
        <p:spPr>
          <a:xfrm>
            <a:off x="609600" y="609600"/>
            <a:ext cx="8083297" cy="41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Industry Benchmarks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3B978C-BE6A-BBF5-DFD0-A35490BFFF19}"/>
              </a:ext>
            </a:extLst>
          </p:cNvPr>
          <p:cNvSpPr/>
          <p:nvPr/>
        </p:nvSpPr>
        <p:spPr>
          <a:xfrm>
            <a:off x="609599" y="1249645"/>
            <a:ext cx="5286703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67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State-of-the-art systems achieve 75-84% accuracy using:</a:t>
            </a:r>
          </a:p>
          <a:p>
            <a:pPr marL="0" indent="0">
              <a:lnSpc>
                <a:spcPts val="2160"/>
              </a:lnSpc>
              <a:buNone/>
            </a:pPr>
            <a:endParaRPr lang="en-US" sz="1350" b="1" dirty="0">
              <a:solidFill>
                <a:srgbClr val="C67D3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8B8FE5-C3DC-4A0B-A277-6626DE9FA121}"/>
              </a:ext>
            </a:extLst>
          </p:cNvPr>
          <p:cNvSpPr/>
          <p:nvPr/>
        </p:nvSpPr>
        <p:spPr>
          <a:xfrm>
            <a:off x="160807" y="1676312"/>
            <a:ext cx="8532089" cy="1943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Deep neural networks (Transformers, LSTMs)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Location and geographic intelligence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User demographics and historical profiles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Temporal features (time, seasonality)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Years of research and industry engineering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B5EBB07-7D18-85F7-E0C9-AFD623F86FC0}"/>
              </a:ext>
            </a:extLst>
          </p:cNvPr>
          <p:cNvSpPr/>
          <p:nvPr/>
        </p:nvSpPr>
        <p:spPr>
          <a:xfrm>
            <a:off x="113722" y="3430368"/>
            <a:ext cx="7924801" cy="1158138"/>
          </a:xfrm>
          <a:prstGeom prst="roundRect">
            <a:avLst>
              <a:gd name="adj" fmla="val 94745"/>
            </a:avLst>
          </a:prstGeom>
          <a:solidFill>
            <a:srgbClr val="FEF5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B7BAD78-6B8A-9263-33EA-BEAA123F0265}"/>
              </a:ext>
            </a:extLst>
          </p:cNvPr>
          <p:cNvSpPr/>
          <p:nvPr/>
        </p:nvSpPr>
        <p:spPr>
          <a:xfrm>
            <a:off x="577018" y="3523910"/>
            <a:ext cx="7461505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082B0F0-A43E-FAA5-DD41-18CC8298A273}"/>
              </a:ext>
            </a:extLst>
          </p:cNvPr>
          <p:cNvSpPr/>
          <p:nvPr/>
        </p:nvSpPr>
        <p:spPr>
          <a:xfrm>
            <a:off x="577018" y="3798179"/>
            <a:ext cx="7461505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6B4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14.22% is lower because I intentionally solve a simpler problem with simpler tools. The contribution: proving context windows work as a practical, interpretable baseline.</a:t>
            </a:r>
          </a:p>
          <a:p>
            <a:pPr marL="0" indent="0">
              <a:lnSpc>
                <a:spcPts val="2160"/>
              </a:lnSpc>
              <a:buNone/>
            </a:pPr>
            <a:endParaRPr lang="en-US" sz="1350" dirty="0">
              <a:solidFill>
                <a:srgbClr val="6B4423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31152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00650" y="2327923"/>
            <a:ext cx="5542700" cy="1234338"/>
          </a:xfrm>
          <a:prstGeom prst="roundRect">
            <a:avLst>
              <a:gd name="adj" fmla="val 88896"/>
            </a:avLst>
          </a:prstGeom>
          <a:solidFill>
            <a:srgbClr val="000000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12004" y="1002078"/>
            <a:ext cx="2719907" cy="41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D1F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Bottom Line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2920973" y="1718323"/>
            <a:ext cx="33020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2D1F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browsing history matters. A lot.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056119" y="2632723"/>
            <a:ext cx="5031762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2D1F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14.22% Hit Rate @ K=100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056119" y="2983195"/>
            <a:ext cx="5031762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2D1F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+2.08% improvement • Simple • Interpretable • Production-ready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1838" y="3867062"/>
            <a:ext cx="7660325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2D1F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averaging of recent embeddings captures meaningful signal about what users actually want.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53312" y="1611678"/>
            <a:ext cx="2437376" cy="548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2D1F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003904" y="2312701"/>
            <a:ext cx="1136193" cy="365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dirty="0">
                <a:solidFill>
                  <a:srgbClr val="2D1F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939192" y="2983195"/>
            <a:ext cx="1265531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2D1F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Marios Ntinoulis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549271" y="3257462"/>
            <a:ext cx="2045373" cy="27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2D1F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ntinoulis.m@live.unic.ac.cy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728</Words>
  <Application>Microsoft Office PowerPoint</Application>
  <PresentationFormat>On-screen Show (16:9)</PresentationFormat>
  <Paragraphs>139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Marios Ntinoulis</cp:lastModifiedBy>
  <cp:revision>2</cp:revision>
  <dcterms:created xsi:type="dcterms:W3CDTF">2026-01-23T00:32:17Z</dcterms:created>
  <dcterms:modified xsi:type="dcterms:W3CDTF">2026-01-23T09:32:29Z</dcterms:modified>
</cp:coreProperties>
</file>